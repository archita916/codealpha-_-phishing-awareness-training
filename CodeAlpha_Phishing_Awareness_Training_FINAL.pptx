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8368"/>
            <a:ext cx="722376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CODEALPHA • CYBER SECURITY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6949440" cy="1417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6F9FF"/>
                </a:solidFill>
                <a:latin typeface="Aptos"/>
              </a:rPr>
              <a:t>PHISHING</a:t>
            </a:r>
          </a:p>
          <a:p>
            <a:pPr algn="l">
              <a:spcAft>
                <a:spcPts val="600"/>
              </a:spcAft>
            </a:pPr>
            <a:r>
              <a:rPr sz="3800" b="1">
                <a:solidFill>
                  <a:srgbClr val="F6F9FF"/>
                </a:solidFill>
                <a:latin typeface="Aptos"/>
              </a:rPr>
              <a:t>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907792"/>
            <a:ext cx="676656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>
                <a:solidFill>
                  <a:srgbClr val="B6C6E0"/>
                </a:solidFill>
                <a:latin typeface="Aptos"/>
              </a:rPr>
              <a:t>Recognize the bait. Verify the source.</a:t>
            </a:r>
          </a:p>
          <a:p>
            <a:pPr algn="l">
              <a:spcAft>
                <a:spcPts val="600"/>
              </a:spcAft>
            </a:pPr>
            <a:r>
              <a:rPr sz="2100" b="0">
                <a:solidFill>
                  <a:srgbClr val="B6C6E0"/>
                </a:solidFill>
                <a:latin typeface="Aptos"/>
              </a:rPr>
              <a:t>Protect your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4096512"/>
            <a:ext cx="1143000" cy="54864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4434840"/>
            <a:ext cx="694944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A beginner-friendly training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288" y="4965192"/>
            <a:ext cx="6949440" cy="255455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dirty="0">
                <a:solidFill>
                  <a:srgbClr val="B6C6E0"/>
                </a:solidFill>
                <a:latin typeface="Aptos"/>
              </a:rPr>
              <a:t>Presented by: [</a:t>
            </a:r>
            <a:r>
              <a:rPr lang="en-IN" sz="1300" dirty="0" err="1">
                <a:solidFill>
                  <a:srgbClr val="B6C6E0"/>
                </a:solidFill>
                <a:latin typeface="Aptos"/>
              </a:rPr>
              <a:t>Archita.B</a:t>
            </a:r>
            <a:r>
              <a:rPr sz="1300" b="0" dirty="0">
                <a:solidFill>
                  <a:srgbClr val="B6C6E0"/>
                </a:solidFill>
                <a:latin typeface="Aptos"/>
              </a:rPr>
              <a:t>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hishing_visua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THINK BEFORE YOU CLICK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92240"/>
            <a:ext cx="59436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01 • UNDERSTAND THE THREAT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What is phishing?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THE PHISHING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7269480" cy="9601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Phishing is a type of social engineering. An attacker pretends to be a trusted person or organization to trick someone into taking an unsafe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2267712" cy="132588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50292" cy="1325880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807208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85FF"/>
                </a:solidFill>
                <a:latin typeface="Aptos"/>
              </a:rPr>
              <a:t>THE BAIT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136392"/>
            <a:ext cx="1993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A fake email, text, call, or website.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27248" y="2697480"/>
            <a:ext cx="2267712" cy="132588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7248" y="2697480"/>
            <a:ext cx="50292" cy="1325880"/>
          </a:xfrm>
          <a:prstGeom prst="rect">
            <a:avLst/>
          </a:prstGeom>
          <a:solidFill>
            <a:srgbClr val="4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82696" y="2807208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8E1EF"/>
                </a:solidFill>
                <a:latin typeface="Aptos"/>
              </a:rPr>
              <a:t>THE TRICK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3136392"/>
            <a:ext cx="1993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Fear, urgency, curiosity, or a tempting offer.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68696" y="2697480"/>
            <a:ext cx="2267712" cy="132588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568696" y="2697480"/>
            <a:ext cx="50292" cy="1325880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24144" y="2807208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97A"/>
                </a:solidFill>
                <a:latin typeface="Aptos"/>
              </a:rPr>
              <a:t>THE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3136392"/>
            <a:ext cx="1993392" cy="82295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Steal data, credentials, money, or deliver malware.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434840"/>
            <a:ext cx="7269480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CC66"/>
                </a:solidFill>
                <a:latin typeface="Aptos"/>
              </a:rPr>
              <a:t>Remember: a familiar logo or polished message does not prove a message is genuine.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02 • EMAIL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Spot the warning signs in an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EXAMPLE IS FICTIONAL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36192"/>
            <a:ext cx="713232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8E1EF"/>
                </a:solidFill>
                <a:latin typeface="Aptos"/>
              </a:rPr>
              <a:t>Example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01952"/>
            <a:ext cx="7223760" cy="1078992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1901952"/>
            <a:ext cx="50292" cy="1078992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694944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97A"/>
                </a:solidFill>
                <a:latin typeface="Aptos"/>
              </a:rPr>
              <a:t>SUBJECT: URGENT — Account will be locked!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40864"/>
            <a:ext cx="6949440" cy="57607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From: Support Team &lt;support@account-alert.example&gt;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“Verify your password in 10 minutes to keep access.”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7132320" cy="1965960"/>
          </a:xfrm>
          <a:prstGeom prst="rect">
            <a:avLst/>
          </a:prstGeom>
          <a:noFill/>
        </p:spPr>
        <p:txBody>
          <a:bodyPr wrap="square" lIns="27432" tIns="18288" rIns="18288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6F9FF"/>
                </a:solidFill>
                <a:latin typeface="Aptos"/>
              </a:rPr>
              <a:t>•  Urgency or threats designed to make you panic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6F9FF"/>
                </a:solidFill>
                <a:latin typeface="Aptos"/>
              </a:rPr>
              <a:t>•  A sender address or identity that does not match the claim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6F9FF"/>
                </a:solidFill>
                <a:latin typeface="Aptos"/>
              </a:rPr>
              <a:t>•  Unexpected requests for passwords, OTPs, or payment details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6F9FF"/>
                </a:solidFill>
                <a:latin typeface="Aptos"/>
              </a:rPr>
              <a:t>•  Unexpected links or attachments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532120"/>
            <a:ext cx="72237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CC66"/>
                </a:solidFill>
                <a:latin typeface="Aptos"/>
              </a:rPr>
              <a:t>Spelling errors can be a clue, but well-written messages can also be phishing.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03 • CHECK BEFORE YOU SIGN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Recognize fake websites and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CHECK THE REAL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54480"/>
            <a:ext cx="7223760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A logo can be copied. Check the actual web address before entering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95728"/>
            <a:ext cx="7178040" cy="1078992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" y="2395728"/>
            <a:ext cx="50292" cy="1078992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505456"/>
            <a:ext cx="69037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97A"/>
                </a:solidFill>
                <a:latin typeface="Aptos"/>
              </a:rPr>
              <a:t>LOOK-ALIKE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34640"/>
            <a:ext cx="6903720" cy="57607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Example: yourbank.example.login-check.test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The actual domain is login-check.test—not “yourbank”.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7132320" cy="2011680"/>
          </a:xfrm>
          <a:prstGeom prst="rect">
            <a:avLst/>
          </a:prstGeom>
          <a:noFill/>
        </p:spPr>
        <p:txBody>
          <a:bodyPr wrap="square" lIns="27432" tIns="18288" r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F6F9FF"/>
                </a:solidFill>
                <a:latin typeface="Aptos"/>
              </a:rPr>
              <a:t>•  Read the domain carefully; watch for misspellings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6F9FF"/>
                </a:solidFill>
                <a:latin typeface="Aptos"/>
              </a:rPr>
              <a:t>•  Be cautious if a button redirects to an unrelated website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6F9FF"/>
                </a:solidFill>
                <a:latin typeface="Aptos"/>
              </a:rPr>
              <a:t>•  Open the official app or type a known address yourself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F6F9FF"/>
                </a:solidFill>
                <a:latin typeface="Aptos"/>
              </a:rPr>
              <a:t>•  HTTPS / a padlock encrypts the connection; it does not prove the site is trustworthy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04 • UNDERSTAND THE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Social engineering: the human 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05/10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NOTICE THE EMOTIONAL TRIGGER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3401568" cy="102412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024128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97A"/>
                </a:solidFill>
                <a:latin typeface="Aptos"/>
              </a:rPr>
              <a:t>FEAR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27248" cy="5212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“Your account will be closed.”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72768"/>
            <a:ext cx="3401568" cy="102412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572768"/>
            <a:ext cx="50292" cy="102412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C66"/>
                </a:solidFill>
                <a:latin typeface="Aptos"/>
              </a:rPr>
              <a:t>URGENCY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3127248" cy="5212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“You have only 10 minutes.”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852928"/>
            <a:ext cx="3401568" cy="102412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2852928"/>
            <a:ext cx="50292" cy="1024128"/>
          </a:xfrm>
          <a:prstGeom prst="rect">
            <a:avLst/>
          </a:prstGeom>
          <a:solidFill>
            <a:srgbClr val="4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962656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8E1EF"/>
                </a:solidFill>
                <a:latin typeface="Aptos"/>
              </a:rPr>
              <a:t>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91840"/>
            <a:ext cx="3127248" cy="5212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“I’m from IT / your bank.”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2852928"/>
            <a:ext cx="3401568" cy="102412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9392" y="2852928"/>
            <a:ext cx="50292" cy="1024128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962656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85FF"/>
                </a:solidFill>
                <a:latin typeface="Aptos"/>
              </a:rPr>
              <a:t>CURIOSITY OR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91840"/>
            <a:ext cx="3127248" cy="5212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“Open this file” / “Claim a prize.”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133087"/>
            <a:ext cx="6967728" cy="102412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" y="4133087"/>
            <a:ext cx="50292" cy="1024128"/>
          </a:xfrm>
          <a:prstGeom prst="rect">
            <a:avLst/>
          </a:prstGeom>
          <a:solidFill>
            <a:srgbClr val="5DE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242816"/>
            <a:ext cx="669340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DE0AE"/>
                </a:solidFill>
                <a:latin typeface="Aptos"/>
              </a:rPr>
              <a:t>FAMILIARITY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572000"/>
            <a:ext cx="6693408" cy="5212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A message imitates a friend, teacher, colleague, or supplier.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532120"/>
            <a:ext cx="713232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Defence: pause, verify using a separate trusted channel, and ask for help if unsure.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05 • DIFFERENT CHANNELS, SAME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Common forms of phishing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THE CHANNEL CAN 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188720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85FF"/>
                </a:solidFill>
                <a:latin typeface="Aptos"/>
              </a:rPr>
              <a:t>EMAIL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Fake account alerts, delivery notices, password resets, or invoices.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72768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572768"/>
            <a:ext cx="50292" cy="1188720"/>
          </a:xfrm>
          <a:prstGeom prst="rect">
            <a:avLst/>
          </a:prstGeom>
          <a:solidFill>
            <a:srgbClr val="4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8E1EF"/>
                </a:solidFill>
                <a:latin typeface="Aptos"/>
              </a:rPr>
              <a:t>SMISHING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Fraudulent SMS or messaging-app texts with links or urgent requests.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063240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063240"/>
            <a:ext cx="50292" cy="118872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172968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CC66"/>
                </a:solidFill>
                <a:latin typeface="Aptos"/>
              </a:rPr>
              <a:t>SPEAR PHISHING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02152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A targeted message tailored to a particular person or team.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063240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79392" y="3063240"/>
            <a:ext cx="50292" cy="1188720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172968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97A"/>
                </a:solidFill>
                <a:latin typeface="Aptos"/>
              </a:rPr>
              <a:t>BUSINESS EMAIL COMPROMISE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502152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Impersonating or compromising a business contact to request money or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892040"/>
            <a:ext cx="713232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Same safe habit: verify unexpected requests before acting.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06 • LEARN FROM REPORTED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Real-world example: Operation reWired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VERIFY PAYMENT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7223760" cy="34747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8E1EF"/>
                </a:solidFill>
                <a:latin typeface="Aptos"/>
              </a:rPr>
              <a:t>Business email compromise (BEC)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722376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Criminals impersonate trusted business contacts to persuade people to send money to fraudulent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99232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" y="2999232"/>
            <a:ext cx="50292" cy="1188720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08960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E85FF"/>
                </a:solidFill>
                <a:latin typeface="Aptos"/>
              </a:rPr>
              <a:t>281 ARRESTS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38144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Reported by the FBI and partners in 2019.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999232"/>
            <a:ext cx="3401568" cy="118872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9392" y="2999232"/>
            <a:ext cx="50292" cy="1188720"/>
          </a:xfrm>
          <a:prstGeom prst="rect">
            <a:avLst/>
          </a:prstGeom>
          <a:solidFill>
            <a:srgbClr val="4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3108960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48E1EF"/>
                </a:solidFill>
                <a:latin typeface="Aptos"/>
              </a:rPr>
              <a:t>≈ $118 MILLION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38144"/>
            <a:ext cx="3127248" cy="6858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6F9FF"/>
                </a:solidFill>
                <a:latin typeface="Aptos"/>
              </a:rPr>
              <a:t>In fraudulent transfers disrupted and recovered, according to the FBI.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617720"/>
            <a:ext cx="713232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CC66"/>
                </a:solidFill>
                <a:latin typeface="Aptos"/>
              </a:rPr>
              <a:t>LESSON: Independently verify payment instructions and changes to account details—even if the email looks familiar.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7269480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Source: FBI, Operation reWired, 10 Sep 2019 • fbi.gov/news/stories/operation-rewired-bec-takedown-091019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07 • TURN AWARENESS INTO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Best practices: prevent, report, recover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STOP • CHECK • VERIFY •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2267712" cy="196596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965960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85FF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1993392" cy="14630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Pause before clicking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Verify sender and domain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Use official channels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Enable MFA and unique passwords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1572768"/>
            <a:ext cx="2267712" cy="196596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27248" y="1572768"/>
            <a:ext cx="50292" cy="1965960"/>
          </a:xfrm>
          <a:prstGeom prst="rect">
            <a:avLst/>
          </a:prstGeom>
          <a:solidFill>
            <a:srgbClr val="48E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82696" y="1682495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8E1EF"/>
                </a:solidFill>
                <a:latin typeface="Aptos"/>
              </a:rPr>
              <a:t>IF SUSPICIOUS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2011680"/>
            <a:ext cx="1993392" cy="14630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Don’t reply or open files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Don’t share passwords/OTPs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Report to the provider or IT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41264" y="1572768"/>
            <a:ext cx="2267712" cy="1965960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41264" y="1572768"/>
            <a:ext cx="50292" cy="1965960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96712" y="1682495"/>
            <a:ext cx="1993392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697A"/>
                </a:solidFill>
                <a:latin typeface="Aptos"/>
              </a:rPr>
              <a:t>IF YOU CLICKED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2011680"/>
            <a:ext cx="1993392" cy="1463039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Tell support promptly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Change exposed passwords from a trusted device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Review account activity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• Contact your bank if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69080"/>
            <a:ext cx="7086600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Reporting quickly helps reduce harm. Do not feel embarrassed—ask for help.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956048"/>
            <a:ext cx="7132320" cy="5486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CC66"/>
                </a:solidFill>
                <a:latin typeface="Aptos"/>
              </a:rPr>
              <a:t>Never share passwords or one-time passcodes in response to unexpected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08 • PAUSE AND CHOOSE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Quick quiz: what would you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09/10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PAUSE BEFORE YOU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8E1EF"/>
                </a:solidFill>
                <a:latin typeface="Aptos"/>
              </a:rPr>
              <a:t>QUESTION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269480" cy="8686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A message says your student account will be disabled in 10 minutes and includes a sign-in link. What should you do?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07792"/>
            <a:ext cx="2240280" cy="84124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907792"/>
            <a:ext cx="50292" cy="841248"/>
          </a:xfrm>
          <a:prstGeom prst="rect">
            <a:avLst/>
          </a:prstGeom>
          <a:solidFill>
            <a:srgbClr val="FF6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017520"/>
            <a:ext cx="19659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697A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46704"/>
            <a:ext cx="1965960" cy="3383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Click quickly.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2907792"/>
            <a:ext cx="2240280" cy="84124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27248" y="2907792"/>
            <a:ext cx="50292" cy="841248"/>
          </a:xfrm>
          <a:prstGeom prst="rect">
            <a:avLst/>
          </a:prstGeom>
          <a:solidFill>
            <a:srgbClr val="5DE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2696" y="3017520"/>
            <a:ext cx="19659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DE0AE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82696" y="3346704"/>
            <a:ext cx="1965960" cy="3383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Open the official app/site yourself and verify.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22976" y="2907792"/>
            <a:ext cx="2240280" cy="841248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22976" y="2907792"/>
            <a:ext cx="50292" cy="841248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78424" y="3017520"/>
            <a:ext cx="196596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CC66"/>
                </a:solidFill>
                <a:latin typeface="Aptos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78424" y="3346704"/>
            <a:ext cx="1965960" cy="33832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Reply to the message.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82880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8E1EF"/>
                </a:solidFill>
                <a:latin typeface="Aptos"/>
              </a:rPr>
              <a:t>QUESTION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98848"/>
            <a:ext cx="72694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A website has a padlock, but its domain looks unfamiliar. Is it automatically safe?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21808"/>
            <a:ext cx="6949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48E1EF"/>
                </a:solidFill>
                <a:latin typeface="Aptos"/>
              </a:rPr>
              <a:t>A  YES                         B 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852160"/>
            <a:ext cx="72237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B6C6E0"/>
                </a:solidFill>
                <a:latin typeface="Aptos"/>
              </a:rPr>
              <a:t>Pause for 3–5 seconds after each question before showing the answers.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758952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48E1EF"/>
                </a:solidFill>
                <a:latin typeface="Aptos"/>
              </a:rPr>
              <a:t>09 • FINISH WITH A SAFE HABIT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498079" cy="6217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6F9FF"/>
                </a:solidFill>
                <a:latin typeface="Aptos"/>
              </a:rPr>
              <a:t>Answers, takeaways &amp; trusted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868680" cy="50292"/>
          </a:xfrm>
          <a:prstGeom prst="rect">
            <a:avLst/>
          </a:prstGeom>
          <a:solidFill>
            <a:srgbClr val="2E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>
                <a:solidFill>
                  <a:srgbClr val="B6C6E0"/>
                </a:solidFill>
                <a:latin typeface="Aptos"/>
              </a:rPr>
              <a:t>CODEALPHA  •  PHISHING AWARENESS  •  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98448"/>
            <a:ext cx="3127248" cy="4526280"/>
          </a:xfrm>
          <a:prstGeom prst="roundRect">
            <a:avLst/>
          </a:prstGeom>
          <a:solidFill>
            <a:srgbClr val="192D58"/>
          </a:solidFill>
          <a:ln w="15240">
            <a:solidFill>
              <a:srgbClr val="2E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ishing_visual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496" y="1380744"/>
            <a:ext cx="2962656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2792" y="5376672"/>
            <a:ext cx="2788920" cy="32918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48E1EF"/>
                </a:solidFill>
                <a:latin typeface="Aptos"/>
              </a:rPr>
              <a:t>STAY ALERT • STAY SECURE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3401568" cy="1170432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170432"/>
          </a:xfrm>
          <a:prstGeom prst="rect">
            <a:avLst/>
          </a:prstGeom>
          <a:solidFill>
            <a:srgbClr val="5DE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DE0AE"/>
                </a:solidFill>
                <a:latin typeface="Aptos"/>
              </a:rPr>
              <a:t>Q1 • ANSWER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3127248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Open the official app/site yourself and verify. Do not use the unexpected message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572768"/>
            <a:ext cx="3401568" cy="1170432"/>
          </a:xfrm>
          <a:prstGeom prst="roundRect">
            <a:avLst/>
          </a:prstGeom>
          <a:solidFill>
            <a:srgbClr val="111E3E"/>
          </a:solidFill>
          <a:ln w="15240">
            <a:solidFill>
              <a:srgbClr val="192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572768"/>
            <a:ext cx="50292" cy="1170432"/>
          </a:xfrm>
          <a:prstGeom prst="rect">
            <a:avLst/>
          </a:prstGeom>
          <a:solidFill>
            <a:srgbClr val="5DE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682495"/>
            <a:ext cx="3127248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5DE0AE"/>
                </a:solidFill>
                <a:latin typeface="Aptos"/>
              </a:rPr>
              <a:t>Q2 • ANSWER B /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3127248" cy="6675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6F9FF"/>
                </a:solidFill>
                <a:latin typeface="Aptos"/>
              </a:rPr>
              <a:t>A padlock means the connection is encrypted; it does not prove the site is legitimate.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035808"/>
            <a:ext cx="7040880" cy="29260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8E1EF"/>
                </a:solidFill>
                <a:latin typeface="Aptos"/>
              </a:rPr>
              <a:t>THREE HABITS TO 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56432"/>
            <a:ext cx="6949440" cy="10972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6F9FF"/>
                </a:solidFill>
                <a:latin typeface="Aptos"/>
              </a:rPr>
              <a:t>Think before you click.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6F9FF"/>
                </a:solidFill>
                <a:latin typeface="Aptos"/>
              </a:rPr>
              <a:t>Verify before you trust.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F6F9FF"/>
                </a:solidFill>
                <a:latin typeface="Aptos"/>
              </a:rPr>
              <a:t>Report when in doubt.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800600"/>
            <a:ext cx="137160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48E1EF"/>
                </a:solidFill>
                <a:latin typeface="Aptos"/>
              </a:rPr>
              <a:t>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102352"/>
            <a:ext cx="7269480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B6C6E0"/>
                </a:solidFill>
                <a:latin typeface="Aptos"/>
              </a:rPr>
              <a:t>FTC: consumer.ftc.gov/articles/how-recognize-avoid-phishing-scams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B6C6E0"/>
                </a:solidFill>
                <a:latin typeface="Aptos"/>
              </a:rPr>
              <a:t>FBI: fbi.gov/news/stories/operation-rewired-bec-takedown-091019</a:t>
            </a:r>
          </a:p>
          <a:p>
            <a:pPr algn="l">
              <a:spcAft>
                <a:spcPts val="600"/>
              </a:spcAft>
            </a:pPr>
            <a:r>
              <a:rPr sz="900" b="0">
                <a:solidFill>
                  <a:srgbClr val="B6C6E0"/>
                </a:solidFill>
                <a:latin typeface="Aptos"/>
              </a:rPr>
              <a:t>CISA: cisa.gov/secure-our-world/recognize-and-report-phishing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035040"/>
            <a:ext cx="713232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8E1EF"/>
                </a:solidFill>
                <a:latin typeface="Aptos"/>
              </a:rPr>
              <a:t>Thank you • CodeAlpha Cyber Security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986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— CodeAlpha Task 2</dc:title>
  <dc:subject>10-slide cybersecurity awareness presentation with visuals and speaker script</dc:subject>
  <dc:creator>CodeAlpha Cyber Security Internship</dc:creator>
  <cp:keywords/>
  <dc:description>generated using python-pptx</dc:description>
  <cp:lastModifiedBy>Archita B Baalasubramanian</cp:lastModifiedBy>
  <cp:revision>3</cp:revision>
  <cp:lastPrinted>2026-10-11T10:33:38Z</cp:lastPrinted>
  <dcterms:created xsi:type="dcterms:W3CDTF">2013-01-27T09:14:16Z</dcterms:created>
  <dcterms:modified xsi:type="dcterms:W3CDTF">2026-10-11T11:08:20Z</dcterms:modified>
  <cp:category/>
</cp:coreProperties>
</file>